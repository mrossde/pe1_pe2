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  <p:sldMasterId id="2147483746" r:id="rId5"/>
  </p:sldMasterIdLst>
  <p:notesMasterIdLst>
    <p:notesMasterId r:id="rId11"/>
  </p:notesMasterIdLst>
  <p:handoutMasterIdLst>
    <p:handoutMasterId r:id="rId12"/>
  </p:handoutMasterIdLst>
  <p:sldIdLst>
    <p:sldId id="276" r:id="rId6"/>
    <p:sldId id="270" r:id="rId7"/>
    <p:sldId id="271" r:id="rId8"/>
    <p:sldId id="275" r:id="rId9"/>
    <p:sldId id="277" r:id="rId10"/>
  </p:sldIdLst>
  <p:sldSz cx="10058400" cy="7772400"/>
  <p:notesSz cx="6858000" cy="9144000"/>
  <p:defaultTextStyle>
    <a:defPPr rtl="0">
      <a:defRPr lang="de-DE"/>
    </a:defPPr>
    <a:lvl1pPr marL="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0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4728" userDrawn="1">
          <p15:clr>
            <a:srgbClr val="A4A3A4"/>
          </p15:clr>
        </p15:guide>
        <p15:guide id="4" pos="17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96D"/>
    <a:srgbClr val="00909E"/>
    <a:srgbClr val="C9D1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066" autoAdjust="0"/>
  </p:normalViewPr>
  <p:slideViewPr>
    <p:cSldViewPr snapToGrid="0" showGuides="1">
      <p:cViewPr>
        <p:scale>
          <a:sx n="75" d="100"/>
          <a:sy n="75" d="100"/>
        </p:scale>
        <p:origin x="4086" y="498"/>
      </p:cViewPr>
      <p:guideLst>
        <p:guide orient="horz" pos="4608"/>
        <p:guide pos="3168"/>
        <p:guide pos="4728"/>
        <p:guide pos="17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80" d="100"/>
        <a:sy n="28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A485ACF-212D-4569-A3C6-C2E49CC9F9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7B6BC28-71FF-4436-A5BC-B02576C781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204DE74F-B6BE-40E4-BF85-0211BDE0E295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0654D9-745B-4403-81F8-85599BFC4E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F694BB-B810-48E1-871B-CEFEBBF5C7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6FA4A321-E662-4CE6-929A-4E6436EE31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068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E3C1152E-0686-4AF8-A551-ECB4E82CB1A2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5CF7411D-FC2E-411E-92E4-B4A7B5F202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120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CF7411D-FC2E-411E-92E4-B4A7B5F2029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35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CF7411D-FC2E-411E-92E4-B4A7B5F2029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262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5CF7411D-FC2E-411E-92E4-B4A7B5F2029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2358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029200" y="5102717"/>
            <a:ext cx="5029200" cy="413808"/>
          </a:xfrm>
          <a:prstGeom prst="rect">
            <a:avLst/>
          </a:prstGeom>
        </p:spPr>
        <p:txBody>
          <a:bodyPr rtlCol="0"/>
          <a:lstStyle>
            <a:lvl1pPr algn="ctr">
              <a:defRPr lang="de-DE" sz="1800">
                <a:solidFill>
                  <a:schemeClr val="bg1"/>
                </a:solidFill>
                <a:latin typeface="Posterama" panose="020B0804020200020000" pitchFamily="34" charset="0"/>
                <a:cs typeface="Posterama" panose="020B0804020200020000" pitchFamily="34" charset="0"/>
              </a:defRPr>
            </a:lvl1pPr>
          </a:lstStyle>
          <a:p>
            <a:pPr rtl="0"/>
            <a:r>
              <a:rPr lang="de-DE"/>
              <a:t>KLICKEN SIE, UM TEXT HINZUZUFÜGEN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FF17B4E-1744-AA49-95DF-F63246C155C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29200" y="0"/>
            <a:ext cx="5029200" cy="77724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38C8955-A400-6640-9E57-C35BA3E0E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6400" y="2336663"/>
            <a:ext cx="4114800" cy="329184"/>
          </a:xfrm>
        </p:spPr>
        <p:txBody>
          <a:bodyPr rtlCol="0">
            <a:noAutofit/>
          </a:bodyPr>
          <a:lstStyle>
            <a:lvl1pPr marL="0" indent="0" algn="ctr">
              <a:buNone/>
              <a:defRPr lang="de-DE" sz="2000" b="1" cap="all" baseline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 marL="50292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2pPr>
            <a:lvl3pPr marL="100584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3pPr>
            <a:lvl4pPr marL="150876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4pPr>
            <a:lvl5pPr marL="201168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5pPr>
          </a:lstStyle>
          <a:p>
            <a:pPr lvl="0" rtl="0"/>
            <a:r>
              <a:rPr lang="de-DE"/>
              <a:t>KLICKEN SIE HIER, UM IHREN TEXT HINZUZUFÜGEN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A5571F0-9498-474F-93D9-4965BDB215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0" y="2927316"/>
            <a:ext cx="4114800" cy="3537279"/>
          </a:xfrm>
        </p:spPr>
        <p:txBody>
          <a:bodyPr rtlCol="0" anchor="t">
            <a:normAutofit/>
          </a:bodyPr>
          <a:lstStyle>
            <a:lvl1pPr algn="ctr">
              <a:spcBef>
                <a:spcPts val="1100"/>
              </a:spcBef>
              <a:defRPr lang="de-DE"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028662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8" userDrawn="1">
          <p15:clr>
            <a:srgbClr val="FBAE40"/>
          </p15:clr>
        </p15:guide>
        <p15:guide id="2" orient="horz" pos="2256" userDrawn="1">
          <p15:clr>
            <a:srgbClr val="FBAE40"/>
          </p15:clr>
        </p15:guide>
        <p15:guide id="3" orient="horz" pos="1080" userDrawn="1">
          <p15:clr>
            <a:srgbClr val="FBAE40"/>
          </p15:clr>
        </p15:guide>
        <p15:guide id="4" orient="horz" pos="1632" userDrawn="1">
          <p15:clr>
            <a:srgbClr val="FBAE40"/>
          </p15:clr>
        </p15:guide>
        <p15:guide id="5" orient="horz" pos="3408" userDrawn="1">
          <p15:clr>
            <a:srgbClr val="FBAE40"/>
          </p15:clr>
        </p15:guide>
        <p15:guide id="6" pos="3456" userDrawn="1">
          <p15:clr>
            <a:srgbClr val="FBAE40"/>
          </p15:clr>
        </p15:guide>
        <p15:guide id="7" pos="604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029200" y="5102717"/>
            <a:ext cx="5029200" cy="413808"/>
          </a:xfrm>
          <a:prstGeom prst="rect">
            <a:avLst/>
          </a:prstGeom>
        </p:spPr>
        <p:txBody>
          <a:bodyPr rtlCol="0"/>
          <a:lstStyle>
            <a:lvl1pPr algn="ctr">
              <a:defRPr lang="de-DE" sz="1800">
                <a:solidFill>
                  <a:schemeClr val="bg1"/>
                </a:solidFill>
                <a:latin typeface="Posterama" panose="020B0804020200020000" pitchFamily="34" charset="0"/>
                <a:cs typeface="Posterama" panose="020B0804020200020000" pitchFamily="34" charset="0"/>
              </a:defRPr>
            </a:lvl1pPr>
          </a:lstStyle>
          <a:p>
            <a:pPr rtl="0"/>
            <a:r>
              <a:rPr lang="de-DE"/>
              <a:t>KLICKEN SIE, UM TEXT HINZUZUFÜGEN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FF17B4E-1744-AA49-95DF-F63246C155C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29200" y="0"/>
            <a:ext cx="5029200" cy="7772400"/>
          </a:xfrm>
          <a:solidFill>
            <a:srgbClr val="00909E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hinzufügen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A70C304-67DE-184C-BC96-1830D7820D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5516" y="4466723"/>
            <a:ext cx="4114800" cy="369332"/>
          </a:xfrm>
        </p:spPr>
        <p:txBody>
          <a:bodyPr rtlCol="0">
            <a:normAutofit/>
          </a:bodyPr>
          <a:lstStyle>
            <a:lvl1pPr marL="0" indent="0" algn="l">
              <a:buNone/>
              <a:defRPr lang="de-DE" sz="20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 marL="50292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2pPr>
            <a:lvl3pPr marL="100584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3pPr>
            <a:lvl4pPr marL="150876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4pPr>
            <a:lvl5pPr marL="201168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5pPr>
          </a:lstStyle>
          <a:p>
            <a:pPr lvl="0" rtl="0"/>
            <a:r>
              <a:rPr lang="de-DE"/>
              <a:t>KLICKEN SIE HIER, UM IHREN TEXT HINZUZUFÜGEN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F01E0FF-B19D-4ECC-AFB9-C68A97325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5516" y="1055993"/>
            <a:ext cx="4114800" cy="3401707"/>
          </a:xfrm>
        </p:spPr>
        <p:txBody>
          <a:bodyPr rtlCol="0" anchor="t">
            <a:noAutofit/>
          </a:bodyPr>
          <a:lstStyle>
            <a:lvl1pPr>
              <a:spcBef>
                <a:spcPts val="1100"/>
              </a:spcBef>
              <a:defRPr lang="de-DE" sz="56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074072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8">
          <p15:clr>
            <a:srgbClr val="FBAE40"/>
          </p15:clr>
        </p15:guide>
        <p15:guide id="2" orient="horz" pos="2136">
          <p15:clr>
            <a:srgbClr val="FBAE40"/>
          </p15:clr>
        </p15:guide>
        <p15:guide id="3" orient="horz" pos="1080">
          <p15:clr>
            <a:srgbClr val="FBAE40"/>
          </p15:clr>
        </p15:guide>
        <p15:guide id="4" orient="horz" pos="2808" userDrawn="1">
          <p15:clr>
            <a:srgbClr val="FBAE40"/>
          </p15:clr>
        </p15:guide>
        <p15:guide id="5" orient="horz" pos="2976" userDrawn="1">
          <p15:clr>
            <a:srgbClr val="FBAE40"/>
          </p15:clr>
        </p15:guide>
        <p15:guide id="6" pos="3456" userDrawn="1">
          <p15:clr>
            <a:srgbClr val="FBAE40"/>
          </p15:clr>
        </p15:guide>
        <p15:guide id="7" pos="6048">
          <p15:clr>
            <a:srgbClr val="FBAE40"/>
          </p15:clr>
        </p15:guide>
        <p15:guide id="8" orient="horz" pos="460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029200" y="5102717"/>
            <a:ext cx="5029200" cy="413808"/>
          </a:xfrm>
          <a:prstGeom prst="rect">
            <a:avLst/>
          </a:prstGeom>
        </p:spPr>
        <p:txBody>
          <a:bodyPr rtlCol="0"/>
          <a:lstStyle>
            <a:lvl1pPr algn="ctr">
              <a:defRPr lang="de-DE" sz="1800">
                <a:solidFill>
                  <a:schemeClr val="bg1"/>
                </a:solidFill>
                <a:latin typeface="Posterama" panose="020B0804020200020000" pitchFamily="34" charset="0"/>
                <a:cs typeface="Posterama" panose="020B0804020200020000" pitchFamily="34" charset="0"/>
              </a:defRPr>
            </a:lvl1pPr>
          </a:lstStyle>
          <a:p>
            <a:pPr rtl="0"/>
            <a:r>
              <a:rPr lang="de-DE"/>
              <a:t>KLICKEN SIE, UM TEXT HINZUZUFÜGEN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FF17B4E-1744-AA49-95DF-F63246C155C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29200" y="0"/>
            <a:ext cx="5029200" cy="7772400"/>
          </a:xfrm>
          <a:solidFill>
            <a:srgbClr val="27496D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Bild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38C8955-A400-6640-9E57-C35BA3E0E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18296" y="2060218"/>
            <a:ext cx="4114800" cy="369332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 b="1" i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 marL="50292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2pPr>
            <a:lvl3pPr marL="100584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3pPr>
            <a:lvl4pPr marL="150876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4pPr>
            <a:lvl5pPr marL="2011680" indent="0" algn="ctr">
              <a:buNone/>
              <a:defRPr lang="de-DE" sz="180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5pPr>
          </a:lstStyle>
          <a:p>
            <a:pPr lvl="0" rtl="0"/>
            <a:r>
              <a:rPr lang="de-DE"/>
              <a:t>KLICKEN SIE HIER, UM IHREN TEXT HINZUZUFÜGEN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9145C-6EA0-4261-9528-7CE1AAC676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8294" y="2650870"/>
            <a:ext cx="4114801" cy="945766"/>
          </a:xfrm>
        </p:spPr>
        <p:txBody>
          <a:bodyPr rtlCol="0" anchor="t">
            <a:noAutofit/>
          </a:bodyPr>
          <a:lstStyle>
            <a:lvl1pPr algn="ctr">
              <a:spcBef>
                <a:spcPts val="1000"/>
              </a:spcBef>
              <a:defRPr lang="de-DE" sz="6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60996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8">
          <p15:clr>
            <a:srgbClr val="FBAE40"/>
          </p15:clr>
        </p15:guide>
        <p15:guide id="2" orient="horz" pos="2112" userDrawn="1">
          <p15:clr>
            <a:srgbClr val="FBAE40"/>
          </p15:clr>
        </p15:guide>
        <p15:guide id="3" orient="horz" pos="1080">
          <p15:clr>
            <a:srgbClr val="FBAE40"/>
          </p15:clr>
        </p15:guide>
        <p15:guide id="4" orient="horz" pos="1464" userDrawn="1">
          <p15:clr>
            <a:srgbClr val="FBAE40"/>
          </p15:clr>
        </p15:guide>
        <p15:guide id="5" orient="horz" pos="3408">
          <p15:clr>
            <a:srgbClr val="FBAE40"/>
          </p15:clr>
        </p15:guide>
        <p15:guide id="6" pos="3456" userDrawn="1">
          <p15:clr>
            <a:srgbClr val="FBAE40"/>
          </p15:clr>
        </p15:guide>
        <p15:guide id="7" pos="6048">
          <p15:clr>
            <a:srgbClr val="FBAE40"/>
          </p15:clr>
        </p15:guide>
        <p15:guide id="8" orient="horz" pos="460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47EF0E91-3F15-41A9-875E-B447CD44C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A80224FC-036C-4581-8B2F-09E4152A5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50" y="2068513"/>
            <a:ext cx="8674100" cy="493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65129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45" r:id="rId2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lang="de-DE"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lang="de-DE"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lang="de-DE"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lang="de-DE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05840" rtl="0" eaLnBrk="1" latinLnBrk="0" hangingPunct="1"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lang="de-DE"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14B2449-DB7C-451C-BDCA-4477CF97A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213D4A-3D5E-4BAC-BE4C-D90B66105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50" y="2068513"/>
            <a:ext cx="8674100" cy="493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84A406-9036-4ABE-A031-30BA01060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150" y="7204075"/>
            <a:ext cx="2262188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73D801D-631D-42B9-8959-8250CE989D1B}" type="datetimeFigureOut">
              <a:rPr lang="de-DE" smtClean="0"/>
              <a:t>15.12.2025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E3A6E6-C09F-445B-B099-A456C6E0D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2163" y="7204075"/>
            <a:ext cx="3394075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A03AA9-7C9D-4933-A22E-E87BBF152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7204075"/>
            <a:ext cx="2262187" cy="414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9BD6F24-662A-40FE-ACEA-1088BE49364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5922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jpeg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emf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xcontent9668.azureedge.us/cms-assets/assets/SPACEX_STARSHIP_INFOGRAPHIC_032425_DESKTOP_769fc7b3bc.jpg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Spacex Logo Stock Illustrations – 61 Spacex Logo Stock Illustrations,  Vectors &amp; Clipart - Dreamstime">
            <a:extLst>
              <a:ext uri="{FF2B5EF4-FFF2-40B4-BE49-F238E27FC236}">
                <a16:creationId xmlns:a16="http://schemas.microsoft.com/office/drawing/2014/main" id="{EAE5A405-E7FC-4573-EC91-B4634DFCC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33"/>
          <a:stretch>
            <a:fillRect/>
          </a:stretch>
        </p:blipFill>
        <p:spPr bwMode="auto">
          <a:xfrm>
            <a:off x="-2" y="0"/>
            <a:ext cx="10378313" cy="214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acex Logo Stock Illustrations – 61 Spacex Logo Stock Illustrations,  Vectors &amp; Clipart - Dreamstime">
            <a:extLst>
              <a:ext uri="{FF2B5EF4-FFF2-40B4-BE49-F238E27FC236}">
                <a16:creationId xmlns:a16="http://schemas.microsoft.com/office/drawing/2014/main" id="{DE03B01D-57DD-522A-FE3E-C8D76A99A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067791"/>
            <a:ext cx="10141527" cy="570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002A393B-CE5B-8C86-F57B-5965A39A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551" y="2306782"/>
            <a:ext cx="8665297" cy="643048"/>
          </a:xfrm>
        </p:spPr>
        <p:txBody>
          <a:bodyPr/>
          <a:lstStyle/>
          <a:p>
            <a:r>
              <a:rPr lang="de-DE" sz="4000" dirty="0" err="1"/>
              <a:t>Starship‘s</a:t>
            </a:r>
            <a:r>
              <a:rPr lang="de-DE" sz="4000" dirty="0"/>
              <a:t> TENTH Flight Test</a:t>
            </a:r>
            <a:br>
              <a:rPr lang="de-DE" sz="4000" b="0" dirty="0">
                <a:solidFill>
                  <a:schemeClr val="tx1"/>
                </a:solidFill>
              </a:rPr>
            </a:br>
            <a:endParaRPr lang="de-DE" sz="4000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138369-0A08-3D2A-11C3-B9DCFC4FAB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71800" y="3116085"/>
            <a:ext cx="4114800" cy="369332"/>
          </a:xfrm>
        </p:spPr>
        <p:txBody>
          <a:bodyPr/>
          <a:lstStyle/>
          <a:p>
            <a:r>
              <a:rPr lang="de-DE" dirty="0"/>
              <a:t>AUGUST 26, 2025</a:t>
            </a:r>
          </a:p>
        </p:txBody>
      </p:sp>
    </p:spTree>
    <p:extLst>
      <p:ext uri="{BB962C8B-B14F-4D97-AF65-F5344CB8AC3E}">
        <p14:creationId xmlns:p14="http://schemas.microsoft.com/office/powerpoint/2010/main" val="261187316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Bildplatzhalter 28" descr="Sternenhimmel">
            <a:extLst>
              <a:ext uri="{FF2B5EF4-FFF2-40B4-BE49-F238E27FC236}">
                <a16:creationId xmlns:a16="http://schemas.microsoft.com/office/drawing/2014/main" id="{9462B0A6-DA2C-4A48-B5A0-43BD2C55D6F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97B5712-58BE-4451-B5F7-1543BF35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1965124"/>
            <a:ext cx="5029200" cy="5632311"/>
          </a:xfrm>
        </p:spPr>
        <p:txBody>
          <a:bodyPr rtlCol="0">
            <a:noAutofit/>
          </a:bodyPr>
          <a:lstStyle>
            <a:defPPr>
              <a:defRPr lang="de-DE"/>
            </a:defPPr>
          </a:lstStyle>
          <a:p>
            <a:r>
              <a:rPr lang="de-DE" sz="2000" dirty="0"/>
              <a:t>1. Erfolgreicher Ablauf der gesamten Flugsequenz und Stufentrennung</a:t>
            </a:r>
            <a:br>
              <a:rPr lang="de-DE" sz="2000" dirty="0"/>
            </a:br>
            <a:br>
              <a:rPr lang="de-DE" sz="2000" dirty="0"/>
            </a:br>
            <a:br>
              <a:rPr lang="de-DE" sz="2000" dirty="0"/>
            </a:br>
            <a:r>
              <a:rPr lang="de-DE" sz="2000" dirty="0"/>
              <a:t>2. Demonstration der Wiederverwendbarkeit des Super Heavy Boosters</a:t>
            </a:r>
            <a:br>
              <a:rPr lang="de-DE" sz="2000" dirty="0"/>
            </a:br>
            <a:br>
              <a:rPr lang="de-DE" sz="2000" dirty="0"/>
            </a:br>
            <a:br>
              <a:rPr lang="de-DE" sz="2000" dirty="0"/>
            </a:br>
            <a:r>
              <a:rPr lang="de-DE" sz="2000" dirty="0"/>
              <a:t>3. Erfolgreiche Entfaltung der Nutzlasttür und Freigabe von Dummies</a:t>
            </a:r>
            <a:br>
              <a:rPr lang="de-DE" sz="2000" dirty="0"/>
            </a:br>
            <a:br>
              <a:rPr lang="de-DE" sz="2000" dirty="0"/>
            </a:br>
            <a:br>
              <a:rPr lang="de-DE" sz="2000" dirty="0"/>
            </a:br>
            <a:r>
              <a:rPr lang="de-DE" sz="2000" dirty="0"/>
              <a:t>4. Demonstration eines Triebwerk-Wiederzündens im Weltraum</a:t>
            </a:r>
            <a:br>
              <a:rPr lang="de-DE" sz="5400" dirty="0"/>
            </a:br>
            <a:endParaRPr lang="de-DE" sz="5400" dirty="0"/>
          </a:p>
        </p:txBody>
      </p:sp>
      <p:grpSp>
        <p:nvGrpSpPr>
          <p:cNvPr id="16" name="Gruppieren 15" descr="Rakete mit Sternen">
            <a:extLst>
              <a:ext uri="{FF2B5EF4-FFF2-40B4-BE49-F238E27FC236}">
                <a16:creationId xmlns:a16="http://schemas.microsoft.com/office/drawing/2014/main" id="{88DE51E2-892A-1546-9B03-323131CEAFBF}"/>
              </a:ext>
            </a:extLst>
          </p:cNvPr>
          <p:cNvGrpSpPr/>
          <p:nvPr/>
        </p:nvGrpSpPr>
        <p:grpSpPr>
          <a:xfrm>
            <a:off x="7031877" y="340326"/>
            <a:ext cx="1023846" cy="630555"/>
            <a:chOff x="6471116" y="5081182"/>
            <a:chExt cx="2064307" cy="1271343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6EFEC94F-810F-1E42-9667-C26A0943E2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80586" y="5240005"/>
              <a:ext cx="1126427" cy="1112520"/>
            </a:xfrm>
            <a:prstGeom prst="rect">
              <a:avLst/>
            </a:prstGeom>
          </p:spPr>
        </p:pic>
        <p:pic>
          <p:nvPicPr>
            <p:cNvPr id="18" name="Bild 17">
              <a:extLst>
                <a:ext uri="{FF2B5EF4-FFF2-40B4-BE49-F238E27FC236}">
                  <a16:creationId xmlns:a16="http://schemas.microsoft.com/office/drawing/2014/main" id="{D0315E73-8AB0-334E-9F24-CD1994A459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 rot="1570900">
              <a:off x="8243323" y="5081182"/>
              <a:ext cx="292100" cy="685800"/>
            </a:xfrm>
            <a:prstGeom prst="rect">
              <a:avLst/>
            </a:prstGeom>
          </p:spPr>
        </p:pic>
        <p:pic>
          <p:nvPicPr>
            <p:cNvPr id="19" name="Bild 18">
              <a:extLst>
                <a:ext uri="{FF2B5EF4-FFF2-40B4-BE49-F238E27FC236}">
                  <a16:creationId xmlns:a16="http://schemas.microsoft.com/office/drawing/2014/main" id="{C9A104F4-100E-C844-BA93-B76A77B581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 rot="14681868">
              <a:off x="6667966" y="5256264"/>
              <a:ext cx="292100" cy="685800"/>
            </a:xfrm>
            <a:prstGeom prst="rect">
              <a:avLst/>
            </a:prstGeom>
          </p:spPr>
        </p:pic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6F32A4-3DE3-A24F-BE7B-42E663C42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6502" y="1114076"/>
            <a:ext cx="4114800" cy="329184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 sz="2800" dirty="0"/>
              <a:t>Testziele:</a:t>
            </a:r>
          </a:p>
        </p:txBody>
      </p:sp>
      <p:grpSp>
        <p:nvGrpSpPr>
          <p:cNvPr id="42" name="Gruppieren 41" descr="Rakete mit Sternen">
            <a:extLst>
              <a:ext uri="{FF2B5EF4-FFF2-40B4-BE49-F238E27FC236}">
                <a16:creationId xmlns:a16="http://schemas.microsoft.com/office/drawing/2014/main" id="{1E6AB24B-50C4-E148-A14A-D835953709B9}"/>
              </a:ext>
            </a:extLst>
          </p:cNvPr>
          <p:cNvGrpSpPr/>
          <p:nvPr/>
        </p:nvGrpSpPr>
        <p:grpSpPr>
          <a:xfrm>
            <a:off x="2255499" y="6887631"/>
            <a:ext cx="1014344" cy="518274"/>
            <a:chOff x="1484031" y="5393918"/>
            <a:chExt cx="1274668" cy="651285"/>
          </a:xfrm>
        </p:grpSpPr>
        <p:pic>
          <p:nvPicPr>
            <p:cNvPr id="35" name="Bild 34">
              <a:extLst>
                <a:ext uri="{FF2B5EF4-FFF2-40B4-BE49-F238E27FC236}">
                  <a16:creationId xmlns:a16="http://schemas.microsoft.com/office/drawing/2014/main" id="{D1385D27-4FF5-CF4A-A1E7-95F9A05A9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2639" y="5401131"/>
              <a:ext cx="652123" cy="644072"/>
            </a:xfrm>
            <a:prstGeom prst="rect">
              <a:avLst/>
            </a:prstGeom>
          </p:spPr>
        </p:pic>
        <p:pic>
          <p:nvPicPr>
            <p:cNvPr id="37" name="Bild 36">
              <a:extLst>
                <a:ext uri="{FF2B5EF4-FFF2-40B4-BE49-F238E27FC236}">
                  <a16:creationId xmlns:a16="http://schemas.microsoft.com/office/drawing/2014/main" id="{0F54D260-B085-2444-9926-6E72126EF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97045" y="5393918"/>
              <a:ext cx="161654" cy="168682"/>
            </a:xfrm>
            <a:prstGeom prst="rect">
              <a:avLst/>
            </a:prstGeom>
          </p:spPr>
        </p:pic>
        <p:pic>
          <p:nvPicPr>
            <p:cNvPr id="38" name="Bild 37">
              <a:extLst>
                <a:ext uri="{FF2B5EF4-FFF2-40B4-BE49-F238E27FC236}">
                  <a16:creationId xmlns:a16="http://schemas.microsoft.com/office/drawing/2014/main" id="{E381B96C-02C3-034A-ABEB-D2FCF44E5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498647" y="5562600"/>
              <a:ext cx="98398" cy="105426"/>
            </a:xfrm>
            <a:prstGeom prst="rect">
              <a:avLst/>
            </a:prstGeom>
          </p:spPr>
        </p:pic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8E2C711D-AAFB-604C-8562-A817AE5F96CD}"/>
                </a:ext>
              </a:extLst>
            </p:cNvPr>
            <p:cNvGrpSpPr/>
            <p:nvPr/>
          </p:nvGrpSpPr>
          <p:grpSpPr>
            <a:xfrm rot="12274810">
              <a:off x="1484031" y="5536530"/>
              <a:ext cx="260052" cy="274108"/>
              <a:chOff x="1453035" y="5559777"/>
              <a:chExt cx="260052" cy="274108"/>
            </a:xfrm>
          </p:grpSpPr>
          <p:pic>
            <p:nvPicPr>
              <p:cNvPr id="39" name="Bild 38">
                <a:extLst>
                  <a:ext uri="{FF2B5EF4-FFF2-40B4-BE49-F238E27FC236}">
                    <a16:creationId xmlns:a16="http://schemas.microsoft.com/office/drawing/2014/main" id="{6EB84647-5AFF-6447-B8F6-3613B282AC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51433" y="5559777"/>
                <a:ext cx="161654" cy="168682"/>
              </a:xfrm>
              <a:prstGeom prst="rect">
                <a:avLst/>
              </a:prstGeom>
            </p:spPr>
          </p:pic>
          <p:pic>
            <p:nvPicPr>
              <p:cNvPr id="40" name="Bild 39">
                <a:extLst>
                  <a:ext uri="{FF2B5EF4-FFF2-40B4-BE49-F238E27FC236}">
                    <a16:creationId xmlns:a16="http://schemas.microsoft.com/office/drawing/2014/main" id="{2B0144CB-8973-4640-B9B0-A4DC10FCD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53035" y="5728459"/>
                <a:ext cx="98398" cy="105426"/>
              </a:xfrm>
              <a:prstGeom prst="rect">
                <a:avLst/>
              </a:prstGeom>
            </p:spPr>
          </p:pic>
        </p:grp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5EE0E2F2-33C8-BD12-EE4D-C2F25697DA99}"/>
              </a:ext>
            </a:extLst>
          </p:cNvPr>
          <p:cNvSpPr txBox="1"/>
          <p:nvPr/>
        </p:nvSpPr>
        <p:spPr>
          <a:xfrm>
            <a:off x="-57557" y="970881"/>
            <a:ext cx="52358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b="1" dirty="0"/>
              <a:t>- Launch</a:t>
            </a:r>
            <a:br>
              <a:rPr lang="de-DE" b="1" dirty="0"/>
            </a:br>
            <a:r>
              <a:rPr lang="de-DE" b="1" dirty="0"/>
              <a:t>- </a:t>
            </a:r>
            <a:r>
              <a:rPr lang="de-DE" dirty="0"/>
              <a:t>Erfolgreicher Start und Aufstieg</a:t>
            </a:r>
            <a:br>
              <a:rPr lang="de-DE" b="1" dirty="0"/>
            </a:br>
            <a:r>
              <a:rPr lang="de-DE" b="1" dirty="0"/>
              <a:t>- Super Heavy Booster Return </a:t>
            </a:r>
            <a:br>
              <a:rPr lang="de-DE" b="1" dirty="0"/>
            </a:br>
            <a:r>
              <a:rPr lang="de-DE" b="1" dirty="0"/>
              <a:t>- Erreichen des Max Q (Max Belastung)</a:t>
            </a:r>
            <a:br>
              <a:rPr lang="de-DE" b="1" dirty="0"/>
            </a:br>
            <a:r>
              <a:rPr lang="de-DE" b="1" dirty="0"/>
              <a:t>- Starship Engine </a:t>
            </a:r>
            <a:r>
              <a:rPr lang="de-DE" b="1" dirty="0" err="1"/>
              <a:t>cutoff</a:t>
            </a:r>
            <a:r>
              <a:rPr lang="de-DE" b="1" dirty="0"/>
              <a:t> </a:t>
            </a:r>
            <a:br>
              <a:rPr lang="de-DE" b="1" dirty="0"/>
            </a:br>
            <a:r>
              <a:rPr lang="de-DE" b="1" dirty="0"/>
              <a:t>- Landing </a:t>
            </a:r>
            <a:r>
              <a:rPr lang="de-DE" b="1" dirty="0" err="1"/>
              <a:t>Splashdown</a:t>
            </a:r>
            <a:br>
              <a:rPr lang="de-DE" b="1" dirty="0"/>
            </a:b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b="1" dirty="0"/>
              <a:t>- Test des verbesserten  Schutzsystems  	 während des Wiedereintritts in die 	 	 Atmosphäre.</a:t>
            </a:r>
            <a:br>
              <a:rPr lang="de-DE" b="1" dirty="0"/>
            </a:br>
            <a:r>
              <a:rPr lang="de-DE" b="1" dirty="0"/>
              <a:t>- simulierten Triebwerksausfalls</a:t>
            </a:r>
            <a:br>
              <a:rPr lang="de-DE" b="1" dirty="0"/>
            </a:br>
            <a:r>
              <a:rPr lang="de-DE" b="1" dirty="0"/>
              <a:t>- Kontrollierte, sanfte Wasserung</a:t>
            </a:r>
            <a:br>
              <a:rPr lang="de-DE" b="1" dirty="0"/>
            </a:b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b="1" dirty="0"/>
              <a:t>- Erstmals Öffnen der Nutzlasttür</a:t>
            </a:r>
            <a:br>
              <a:rPr lang="de-DE" b="1" dirty="0"/>
            </a:br>
            <a:r>
              <a:rPr lang="de-DE" b="1" dirty="0"/>
              <a:t>- Aussetzen von 8 Starlink-Simulatoren</a:t>
            </a:r>
            <a:br>
              <a:rPr lang="de-DE" b="1" dirty="0"/>
            </a:br>
            <a:r>
              <a:rPr lang="de-DE" b="1" dirty="0"/>
              <a:t>- Nutzlasttür wieder schließen</a:t>
            </a:r>
            <a:br>
              <a:rPr lang="de-DE" b="1" dirty="0"/>
            </a:b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b="1" dirty="0"/>
              <a:t>- Starship-Manöver und Wiedereintritt</a:t>
            </a:r>
            <a:br>
              <a:rPr lang="de-DE" b="1" dirty="0"/>
            </a:br>
            <a:r>
              <a:rPr lang="de-DE" b="1" dirty="0"/>
              <a:t>- Triebwerk-Wiederzündens im Weltraum</a:t>
            </a:r>
          </a:p>
        </p:txBody>
      </p:sp>
    </p:spTree>
    <p:extLst>
      <p:ext uri="{BB962C8B-B14F-4D97-AF65-F5344CB8AC3E}">
        <p14:creationId xmlns:p14="http://schemas.microsoft.com/office/powerpoint/2010/main" val="345374431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platzhalter 16" descr="Sternenhimmel mit Wasser und Bergen am unteren Rand">
            <a:extLst>
              <a:ext uri="{FF2B5EF4-FFF2-40B4-BE49-F238E27FC236}">
                <a16:creationId xmlns:a16="http://schemas.microsoft.com/office/drawing/2014/main" id="{749D833B-6342-7B48-AA3C-4EB7BE1FB1D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029200" cy="7772400"/>
          </a:xfr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A3F390AD-3728-4481-AAEF-AD42B8B4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40" y="2692399"/>
            <a:ext cx="4679660" cy="4651375"/>
          </a:xfrm>
        </p:spPr>
        <p:txBody>
          <a:bodyPr rtlCol="0"/>
          <a:lstStyle>
            <a:defPPr>
              <a:defRPr lang="de-DE"/>
            </a:defPPr>
          </a:lstStyle>
          <a:p>
            <a:r>
              <a:rPr lang="de-DE" sz="2000" dirty="0">
                <a:latin typeface="+mn-lt"/>
                <a:ea typeface="+mn-ea"/>
              </a:rPr>
              <a:t>1. Flugsequenz &amp; </a:t>
            </a:r>
            <a:br>
              <a:rPr lang="de-DE" sz="2000" dirty="0">
                <a:latin typeface="+mn-lt"/>
                <a:ea typeface="+mn-ea"/>
              </a:rPr>
            </a:br>
            <a:r>
              <a:rPr lang="de-DE" sz="2000" dirty="0">
                <a:latin typeface="+mn-lt"/>
                <a:ea typeface="+mn-ea"/>
              </a:rPr>
              <a:t>    Stufentrennung</a:t>
            </a:r>
            <a:br>
              <a:rPr lang="de-DE" sz="2000" dirty="0">
                <a:latin typeface="+mn-lt"/>
                <a:ea typeface="+mn-ea"/>
              </a:rPr>
            </a:br>
            <a:br>
              <a:rPr lang="de-DE" sz="2000" dirty="0">
                <a:latin typeface="+mn-lt"/>
                <a:ea typeface="+mn-ea"/>
              </a:rPr>
            </a:br>
            <a:r>
              <a:rPr lang="de-DE" sz="2000" dirty="0">
                <a:latin typeface="+mn-lt"/>
                <a:ea typeface="+mn-ea"/>
              </a:rPr>
              <a:t>2. Booster</a:t>
            </a:r>
            <a:br>
              <a:rPr lang="de-DE" sz="2000" dirty="0">
                <a:latin typeface="+mn-lt"/>
                <a:ea typeface="+mn-ea"/>
              </a:rPr>
            </a:br>
            <a:r>
              <a:rPr lang="de-DE" sz="2000" dirty="0">
                <a:latin typeface="+mn-lt"/>
                <a:ea typeface="+mn-ea"/>
              </a:rPr>
              <a:t>    Wiederverwendbarkeit</a:t>
            </a:r>
            <a:br>
              <a:rPr lang="de-DE" sz="2000" dirty="0">
                <a:latin typeface="+mn-lt"/>
                <a:ea typeface="+mn-ea"/>
              </a:rPr>
            </a:br>
            <a:br>
              <a:rPr lang="de-DE" sz="2000" dirty="0">
                <a:latin typeface="+mn-lt"/>
                <a:ea typeface="+mn-ea"/>
              </a:rPr>
            </a:br>
            <a:r>
              <a:rPr lang="de-DE" sz="2000" dirty="0">
                <a:latin typeface="+mn-lt"/>
                <a:ea typeface="+mn-ea"/>
              </a:rPr>
              <a:t>3. Nutzlast-Entfaltung</a:t>
            </a:r>
            <a:br>
              <a:rPr lang="de-DE" sz="2000" dirty="0">
                <a:latin typeface="+mn-lt"/>
                <a:ea typeface="+mn-ea"/>
              </a:rPr>
            </a:br>
            <a:br>
              <a:rPr lang="de-DE" sz="2000" dirty="0">
                <a:latin typeface="+mn-lt"/>
                <a:ea typeface="+mn-ea"/>
              </a:rPr>
            </a:br>
            <a:r>
              <a:rPr lang="de-DE" sz="2000" dirty="0">
                <a:latin typeface="+mn-lt"/>
                <a:ea typeface="+mn-ea"/>
              </a:rPr>
              <a:t>4. In-Space </a:t>
            </a:r>
            <a:r>
              <a:rPr lang="de-DE" sz="2000" dirty="0" err="1">
                <a:latin typeface="+mn-lt"/>
                <a:ea typeface="+mn-ea"/>
              </a:rPr>
              <a:t>Relight</a:t>
            </a:r>
            <a:br>
              <a:rPr lang="de-DE" sz="2000" dirty="0">
                <a:latin typeface="+mn-lt"/>
                <a:ea typeface="+mn-ea"/>
              </a:rPr>
            </a:br>
            <a:br>
              <a:rPr lang="de-DE" sz="5400" dirty="0"/>
            </a:br>
            <a:r>
              <a:rPr lang="de-DE" sz="2000" dirty="0">
                <a:latin typeface="+mn-lt"/>
                <a:ea typeface="+mn-ea"/>
              </a:rPr>
              <a:t>5. Zusatz: Wiedereintritt</a:t>
            </a:r>
          </a:p>
        </p:txBody>
      </p:sp>
      <p:pic>
        <p:nvPicPr>
          <p:cNvPr id="8" name="Grafik 7" descr="Ufo">
            <a:extLst>
              <a:ext uri="{FF2B5EF4-FFF2-40B4-BE49-F238E27FC236}">
                <a16:creationId xmlns:a16="http://schemas.microsoft.com/office/drawing/2014/main" id="{6AFB22F6-3305-F64B-A5F6-C06E18354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9951" y="559674"/>
            <a:ext cx="729297" cy="510507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65539F-32E6-4F42-9FB6-D084EB3D7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4769" y="1696624"/>
            <a:ext cx="4679660" cy="369332"/>
          </a:xfrm>
        </p:spPr>
        <p:txBody>
          <a:bodyPr rtlCol="0">
            <a:noAutofit/>
          </a:bodyPr>
          <a:lstStyle>
            <a:defPPr>
              <a:defRPr lang="de-DE"/>
            </a:defPPr>
          </a:lstStyle>
          <a:p>
            <a:r>
              <a:rPr lang="de-DE" sz="2400" dirty="0"/>
              <a:t>Quantifizierbare Ergebnis?</a:t>
            </a:r>
          </a:p>
        </p:txBody>
      </p:sp>
      <p:pic>
        <p:nvPicPr>
          <p:cNvPr id="12" name="Bild 11" descr="UFO">
            <a:extLst>
              <a:ext uri="{FF2B5EF4-FFF2-40B4-BE49-F238E27FC236}">
                <a16:creationId xmlns:a16="http://schemas.microsoft.com/office/drawing/2014/main" id="{DE2BFB7D-82DB-7341-BE1C-EB6785754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6997" y="6779983"/>
            <a:ext cx="805416" cy="5637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7736A8C-F7DF-23CD-94F4-F38BFA1192A4}"/>
              </a:ext>
            </a:extLst>
          </p:cNvPr>
          <p:cNvSpPr txBox="1"/>
          <p:nvPr/>
        </p:nvSpPr>
        <p:spPr>
          <a:xfrm>
            <a:off x="5105105" y="814927"/>
            <a:ext cx="5029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1. - </a:t>
            </a:r>
            <a:r>
              <a:rPr lang="de-DE" b="1" dirty="0">
                <a:solidFill>
                  <a:srgbClr val="FF0000"/>
                </a:solidFill>
              </a:rPr>
              <a:t>Erfolg</a:t>
            </a:r>
            <a:r>
              <a:rPr lang="de-DE" dirty="0"/>
              <a:t>, 3. Versuch „</a:t>
            </a:r>
            <a:r>
              <a:rPr lang="de-DE" dirty="0" err="1"/>
              <a:t>Cleen</a:t>
            </a:r>
            <a:r>
              <a:rPr lang="de-DE" dirty="0"/>
              <a:t> Perfekt Lift </a:t>
            </a:r>
            <a:r>
              <a:rPr lang="de-DE" dirty="0" err="1"/>
              <a:t>of</a:t>
            </a:r>
            <a:r>
              <a:rPr lang="de-DE" dirty="0"/>
              <a:t>“</a:t>
            </a:r>
            <a:br>
              <a:rPr lang="de-DE" dirty="0"/>
            </a:br>
            <a:r>
              <a:rPr lang="de-DE" dirty="0"/>
              <a:t>    - T + 01:28 </a:t>
            </a:r>
            <a:r>
              <a:rPr lang="de-DE" dirty="0" err="1"/>
              <a:t>ausfall</a:t>
            </a:r>
            <a:r>
              <a:rPr lang="de-DE" dirty="0"/>
              <a:t> 1 mittel </a:t>
            </a:r>
            <a:r>
              <a:rPr lang="de-DE" dirty="0" err="1"/>
              <a:t>Engien</a:t>
            </a:r>
            <a:r>
              <a:rPr lang="de-DE" dirty="0"/>
              <a:t> </a:t>
            </a:r>
            <a:r>
              <a:rPr lang="de-DE" dirty="0" err="1"/>
              <a:t>Bosster</a:t>
            </a:r>
            <a:br>
              <a:rPr lang="de-DE" dirty="0"/>
            </a:br>
            <a:r>
              <a:rPr lang="de-DE" dirty="0"/>
              <a:t>    - Hot-</a:t>
            </a:r>
            <a:r>
              <a:rPr lang="de-DE" dirty="0" err="1"/>
              <a:t>Staging</a:t>
            </a:r>
            <a:r>
              <a:rPr lang="de-DE" dirty="0"/>
              <a:t> war erfolgreich</a:t>
            </a:r>
          </a:p>
          <a:p>
            <a:br>
              <a:rPr lang="de-DE" dirty="0"/>
            </a:br>
            <a:r>
              <a:rPr lang="de-DE" dirty="0"/>
              <a:t>2. - </a:t>
            </a:r>
            <a:r>
              <a:rPr lang="de-DE" b="1" dirty="0">
                <a:solidFill>
                  <a:srgbClr val="FF0000"/>
                </a:solidFill>
              </a:rPr>
              <a:t>Erfolg</a:t>
            </a:r>
            <a:r>
              <a:rPr lang="de-DE" dirty="0"/>
              <a:t>, Simulierten Triebwerksausfalls</a:t>
            </a:r>
          </a:p>
          <a:p>
            <a:r>
              <a:rPr lang="de-DE" dirty="0"/>
              <a:t>     -Kontrollierte Wasserlandung </a:t>
            </a:r>
            <a:br>
              <a:rPr lang="de-DE" dirty="0"/>
            </a:br>
            <a:r>
              <a:rPr lang="de-DE" dirty="0"/>
              <a:t>     - Neues Hitzeschild hat standgehalten</a:t>
            </a:r>
            <a:br>
              <a:rPr lang="de-DE" dirty="0"/>
            </a:br>
            <a:br>
              <a:rPr lang="de-DE" dirty="0"/>
            </a:br>
            <a:r>
              <a:rPr lang="de-DE" dirty="0"/>
              <a:t>3. –</a:t>
            </a:r>
            <a:r>
              <a:rPr lang="de-DE" b="1" dirty="0">
                <a:solidFill>
                  <a:srgbClr val="FF0000"/>
                </a:solidFill>
              </a:rPr>
              <a:t> Voller Erfolg</a:t>
            </a:r>
            <a:r>
              <a:rPr lang="de-DE" dirty="0"/>
              <a:t>, alle acht Starlink-   	Simulatoren wurden erfolgreich und  	plangemäß ausgesetzt.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4. - </a:t>
            </a:r>
            <a:r>
              <a:rPr lang="de-DE" b="1" dirty="0">
                <a:solidFill>
                  <a:srgbClr val="FF0000"/>
                </a:solidFill>
              </a:rPr>
              <a:t>Erfolg</a:t>
            </a:r>
            <a:r>
              <a:rPr lang="de-DE" dirty="0"/>
              <a:t>, Oberstufe wurde erfolgreich        	wiedergezündet. Dies beweist die 	Fähigkeit zu  	Orbitalmanövern.</a:t>
            </a:r>
            <a:br>
              <a:rPr lang="de-DE" dirty="0"/>
            </a:br>
            <a:br>
              <a:rPr lang="de-DE" dirty="0"/>
            </a:br>
            <a:r>
              <a:rPr lang="de-DE" dirty="0"/>
              <a:t>5. – </a:t>
            </a:r>
            <a:r>
              <a:rPr lang="de-DE" b="1" dirty="0">
                <a:solidFill>
                  <a:srgbClr val="FF0000"/>
                </a:solidFill>
              </a:rPr>
              <a:t>Erfolg,</a:t>
            </a:r>
            <a:r>
              <a:rPr lang="de-DE" dirty="0"/>
              <a:t> Starship überstand den 	Wiedereintritt</a:t>
            </a:r>
            <a:br>
              <a:rPr lang="de-DE" dirty="0"/>
            </a:br>
            <a:r>
              <a:rPr lang="de-DE" dirty="0"/>
              <a:t>    - Landeflip erfolgreich durchgeführt</a:t>
            </a:r>
            <a:br>
              <a:rPr lang="de-DE" dirty="0"/>
            </a:br>
            <a:r>
              <a:rPr lang="de-DE" dirty="0"/>
              <a:t>     - sanften Wasserung im Indischen Ozean.</a:t>
            </a:r>
          </a:p>
        </p:txBody>
      </p:sp>
    </p:spTree>
    <p:extLst>
      <p:ext uri="{BB962C8B-B14F-4D97-AF65-F5344CB8AC3E}">
        <p14:creationId xmlns:p14="http://schemas.microsoft.com/office/powerpoint/2010/main" val="208928608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 descr="Ein Blick auf die Erde aus dem Weltall">
            <a:extLst>
              <a:ext uri="{FF2B5EF4-FFF2-40B4-BE49-F238E27FC236}">
                <a16:creationId xmlns:a16="http://schemas.microsoft.com/office/drawing/2014/main" id="{CC7D7541-EF52-6646-92B1-B25F38B7FDE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8" name="Bild 7" descr="Symbol für „Planet“ und „Orbit“">
            <a:extLst>
              <a:ext uri="{FF2B5EF4-FFF2-40B4-BE49-F238E27FC236}">
                <a16:creationId xmlns:a16="http://schemas.microsoft.com/office/drawing/2014/main" id="{0FE11CE5-65E9-A84B-9CF6-DE456DB3C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822" y="6837984"/>
            <a:ext cx="637953" cy="48830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BA9F89-BA1D-E943-BD15-CFD6F09439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744" y="241004"/>
            <a:ext cx="3423961" cy="413633"/>
          </a:xfrm>
        </p:spPr>
        <p:txBody>
          <a:bodyPr rtlCol="0">
            <a:normAutofit lnSpcReduction="10000"/>
          </a:bodyPr>
          <a:lstStyle>
            <a:defPPr>
              <a:defRPr lang="de-DE"/>
            </a:defPPr>
          </a:lstStyle>
          <a:p>
            <a:r>
              <a:rPr lang="de-DE" sz="2400" dirty="0">
                <a:solidFill>
                  <a:schemeClr val="tx1"/>
                </a:solidFill>
              </a:rPr>
              <a:t>Testablauf / Sequenz:</a:t>
            </a:r>
          </a:p>
        </p:txBody>
      </p:sp>
      <p:pic>
        <p:nvPicPr>
          <p:cNvPr id="9" name="Bild 8" descr="Symbol für &quot;Planet&quot; und &quot;Orbit&quot;">
            <a:extLst>
              <a:ext uri="{FF2B5EF4-FFF2-40B4-BE49-F238E27FC236}">
                <a16:creationId xmlns:a16="http://schemas.microsoft.com/office/drawing/2014/main" id="{406F48F7-8659-0F4B-9333-3CD62C7847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9826" y="149578"/>
            <a:ext cx="779278" cy="596484"/>
          </a:xfrm>
          <a:prstGeom prst="rect">
            <a:avLst/>
          </a:prstGeom>
        </p:spPr>
      </p:pic>
      <p:pic>
        <p:nvPicPr>
          <p:cNvPr id="10" name="Grafik 9" descr="Ein Bild, das Himmel, draußen, Leuchtturm, Flugzeug enthält.&#10;&#10;KI-generierte Inhalte können fehlerhaft sein.">
            <a:extLst>
              <a:ext uri="{FF2B5EF4-FFF2-40B4-BE49-F238E27FC236}">
                <a16:creationId xmlns:a16="http://schemas.microsoft.com/office/drawing/2014/main" id="{886AC556-4B65-953D-E1CC-AE6203C545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3650" y="177515"/>
            <a:ext cx="1140204" cy="4836301"/>
          </a:xfrm>
          <a:prstGeom prst="rect">
            <a:avLst/>
          </a:prstGeom>
        </p:spPr>
      </p:pic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7C978DB6-0C2F-9353-6203-4BE33E76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72639"/>
              </p:ext>
            </p:extLst>
          </p:nvPr>
        </p:nvGraphicFramePr>
        <p:xfrm>
          <a:off x="82003" y="948906"/>
          <a:ext cx="4947194" cy="6251262"/>
        </p:xfrm>
        <a:graphic>
          <a:graphicData uri="http://schemas.openxmlformats.org/drawingml/2006/table">
            <a:tbl>
              <a:tblPr/>
              <a:tblGrid>
                <a:gridCol w="1057970">
                  <a:extLst>
                    <a:ext uri="{9D8B030D-6E8A-4147-A177-3AD203B41FA5}">
                      <a16:colId xmlns:a16="http://schemas.microsoft.com/office/drawing/2014/main" val="2687409688"/>
                    </a:ext>
                  </a:extLst>
                </a:gridCol>
                <a:gridCol w="1024145">
                  <a:extLst>
                    <a:ext uri="{9D8B030D-6E8A-4147-A177-3AD203B41FA5}">
                      <a16:colId xmlns:a16="http://schemas.microsoft.com/office/drawing/2014/main" val="4238096980"/>
                    </a:ext>
                  </a:extLst>
                </a:gridCol>
                <a:gridCol w="2865079">
                  <a:extLst>
                    <a:ext uri="{9D8B030D-6E8A-4147-A177-3AD203B41FA5}">
                      <a16:colId xmlns:a16="http://schemas.microsoft.com/office/drawing/2014/main" val="2522398585"/>
                    </a:ext>
                  </a:extLst>
                </a:gridCol>
              </a:tblGrid>
              <a:tr h="495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/>
                        <a:t>Phase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/>
                        <a:t>Zeit (ca. T+...)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Ereignis / Aktion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51336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Aufstieg &amp; Trennung</a:t>
                      </a: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00:00:02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Liftoff</a:t>
                      </a:r>
                      <a:r>
                        <a:rPr lang="de-DE" sz="1400"/>
                        <a:t> (Start)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768306"/>
                  </a:ext>
                </a:extLst>
              </a:tr>
              <a:tr h="4956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/>
                        <a:t>00:02:38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Hot-Staging</a:t>
                      </a:r>
                      <a:r>
                        <a:rPr lang="de-DE" sz="1400"/>
                        <a:t> (Heiß-Stufentrennung)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682285"/>
                  </a:ext>
                </a:extLst>
              </a:tr>
              <a:tr h="55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Booster-Rückkehr</a:t>
                      </a: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00:02:48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Boost-Back-Burn</a:t>
                      </a:r>
                      <a:r>
                        <a:rPr lang="de-DE" sz="1400"/>
                        <a:t> beginnt (Wendemanöver)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872037"/>
                  </a:ext>
                </a:extLst>
              </a:tr>
              <a:tr h="7185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00:06:20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Lande-Burn</a:t>
                      </a:r>
                      <a:r>
                        <a:rPr lang="de-DE" sz="1400"/>
                        <a:t> beginnt (Demonstration des simulierten Ausfalls)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477277"/>
                  </a:ext>
                </a:extLst>
              </a:tr>
              <a:tr h="55824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00:06:40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Wasserung</a:t>
                      </a:r>
                      <a:r>
                        <a:rPr lang="de-DE" sz="1400"/>
                        <a:t> des Boosters (Golf von Mexiko)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180863"/>
                  </a:ext>
                </a:extLst>
              </a:tr>
              <a:tr h="55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Starship im Orbit</a:t>
                      </a: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00:08:57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SECO</a:t>
                      </a:r>
                      <a:r>
                        <a:rPr lang="de-DE" sz="1400"/>
                        <a:t> (Abschaltung der Starship-Triebwerke)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856661"/>
                  </a:ext>
                </a:extLst>
              </a:tr>
              <a:tr h="55824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00:18:27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Nutzlast-Entfaltung</a:t>
                      </a:r>
                      <a:r>
                        <a:rPr lang="de-DE" sz="1400"/>
                        <a:t> (Aussetzen der 8 Dummies)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420679"/>
                  </a:ext>
                </a:extLst>
              </a:tr>
              <a:tr h="55824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00:37:48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In-Space Relight</a:t>
                      </a:r>
                      <a:r>
                        <a:rPr lang="de-DE" sz="1400"/>
                        <a:t> (Triebwerk-Wiederzündung)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617934"/>
                  </a:ext>
                </a:extLst>
              </a:tr>
              <a:tr h="610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Wiedereintritt &amp; Ende</a:t>
                      </a: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00:47:29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dirty="0"/>
                        <a:t>Atmosphärischer Wiedereintritt</a:t>
                      </a:r>
                      <a:r>
                        <a:rPr lang="de-DE" sz="1400" dirty="0"/>
                        <a:t> (Beginn des Hitzeschild-Tests)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718447"/>
                  </a:ext>
                </a:extLst>
              </a:tr>
              <a:tr h="55824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/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01:06:14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dirty="0"/>
                        <a:t>Lande-Flip und Wasserung</a:t>
                      </a:r>
                      <a:r>
                        <a:rPr lang="de-DE" sz="1400" dirty="0"/>
                        <a:t> (Indischer Ozean)</a:t>
                      </a:r>
                    </a:p>
                  </a:txBody>
                  <a:tcPr marL="47702" marR="47702" marT="23851" marB="23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195445"/>
                  </a:ext>
                </a:extLst>
              </a:tr>
            </a:tbl>
          </a:graphicData>
        </a:graphic>
      </p:graphicFrame>
      <p:sp>
        <p:nvSpPr>
          <p:cNvPr id="12" name="Textfeld 11">
            <a:extLst>
              <a:ext uri="{FF2B5EF4-FFF2-40B4-BE49-F238E27FC236}">
                <a16:creationId xmlns:a16="http://schemas.microsoft.com/office/drawing/2014/main" id="{95E66C85-F5F2-A4FB-AB5F-BBE3B2C9975D}"/>
              </a:ext>
            </a:extLst>
          </p:cNvPr>
          <p:cNvSpPr txBox="1"/>
          <p:nvPr/>
        </p:nvSpPr>
        <p:spPr>
          <a:xfrm>
            <a:off x="298997" y="7291591"/>
            <a:ext cx="429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Testflug gesamt Dauer: 66 Minuten</a:t>
            </a:r>
          </a:p>
        </p:txBody>
      </p:sp>
    </p:spTree>
    <p:extLst>
      <p:ext uri="{BB962C8B-B14F-4D97-AF65-F5344CB8AC3E}">
        <p14:creationId xmlns:p14="http://schemas.microsoft.com/office/powerpoint/2010/main" val="271549800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29BE382-5148-3378-A16A-DEB2A52D4599}"/>
              </a:ext>
            </a:extLst>
          </p:cNvPr>
          <p:cNvSpPr/>
          <p:nvPr/>
        </p:nvSpPr>
        <p:spPr>
          <a:xfrm>
            <a:off x="-127000" y="-114300"/>
            <a:ext cx="10185400" cy="80734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9D11E64-18D0-A13E-0BC8-D36FCEDB2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2003" y="850900"/>
            <a:ext cx="10839368" cy="566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7D349F3-D35C-5CBB-21E4-8AD747C0B0D9}"/>
              </a:ext>
            </a:extLst>
          </p:cNvPr>
          <p:cNvSpPr txBox="1"/>
          <p:nvPr/>
        </p:nvSpPr>
        <p:spPr>
          <a:xfrm>
            <a:off x="190500" y="7035800"/>
            <a:ext cx="962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954F7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https://sxcontent9668.azureedge.us/cms-assets/assets/SPACEX_STARSHIP_INFOGRAPHIC_032425_DESKTOP_769fc7b3bc.</a:t>
            </a:r>
            <a:r>
              <a:rPr lang="de-DE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jpg</a:t>
            </a:r>
            <a:endParaRPr lang="de-DE" dirty="0">
              <a:solidFill>
                <a:schemeClr val="bg1"/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881055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7">
      <a:majorFont>
        <a:latin typeface="Posterama"/>
        <a:ea typeface=""/>
        <a:cs typeface=""/>
      </a:majorFont>
      <a:minorFont>
        <a:latin typeface="Postera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6960316_TF11935832_Win32" id="{E5D6270B-4468-4195-A8E9-9CF0A02136C1}" vid="{5451B23F-4488-4905-AE36-4083E38C28FD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0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6960316_TF11935832_Win32" id="{E5D6270B-4468-4195-A8E9-9CF0A02136C1}" vid="{9781256F-DFD3-4853-BDF8-9BCBBC4ECAB8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353298F-9606-4EF4-B34A-FF0396FB44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634CA6-DCC8-429E-A3FB-B7BF403540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1F4455-7B17-42FD-839A-944D43747D7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Vatertagskarten mit Weltraummotiven</Template>
  <TotalTime>0</TotalTime>
  <Words>431</Words>
  <Application>Microsoft Office PowerPoint</Application>
  <PresentationFormat>Benutzerdefiniert</PresentationFormat>
  <Paragraphs>47</Paragraphs>
  <Slides>5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Arial</vt:lpstr>
      <vt:lpstr>Avenir Next LT Pro</vt:lpstr>
      <vt:lpstr>Calibri</vt:lpstr>
      <vt:lpstr>Posterama</vt:lpstr>
      <vt:lpstr>Office-Design</vt:lpstr>
      <vt:lpstr>Benutzerdefiniertes Design</vt:lpstr>
      <vt:lpstr>Starship‘s TENTH Flight Test </vt:lpstr>
      <vt:lpstr>1. Erfolgreicher Ablauf der gesamten Flugsequenz und Stufentrennung   2. Demonstration der Wiederverwendbarkeit des Super Heavy Boosters   3. Erfolgreiche Entfaltung der Nutzlasttür und Freigabe von Dummies   4. Demonstration eines Triebwerk-Wiederzündens im Weltraum </vt:lpstr>
      <vt:lpstr>1. Flugsequenz &amp;      Stufentrennung  2. Booster     Wiederverwendbarkeit  3. Nutzlast-Entfaltung  4. In-Space Relight  5. Zusatz: Wiedereintritt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Heintz</dc:creator>
  <cp:lastModifiedBy>Daniel Heintz</cp:lastModifiedBy>
  <cp:revision>1</cp:revision>
  <dcterms:created xsi:type="dcterms:W3CDTF">2025-12-15T11:22:12Z</dcterms:created>
  <dcterms:modified xsi:type="dcterms:W3CDTF">2025-12-15T12:52:33Z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